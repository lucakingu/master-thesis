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7" autoAdjust="0"/>
    <p:restoredTop sz="94660"/>
  </p:normalViewPr>
  <p:slideViewPr>
    <p:cSldViewPr snapToGrid="0">
      <p:cViewPr varScale="1">
        <p:scale>
          <a:sx n="98" d="100"/>
          <a:sy n="98" d="100"/>
        </p:scale>
        <p:origin x="9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DF6-5626-472D-8067-0B5495BB1B2F}" type="datetimeFigureOut">
              <a:rPr lang="en-MT" smtClean="0"/>
              <a:t>01/03/2026</a:t>
            </a:fld>
            <a:endParaRPr lang="en-M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D8D61-5F4D-42D6-8084-652E72359455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954694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DF6-5626-472D-8067-0B5495BB1B2F}" type="datetimeFigureOut">
              <a:rPr lang="en-MT" smtClean="0"/>
              <a:t>01/03/2026</a:t>
            </a:fld>
            <a:endParaRPr lang="en-M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D8D61-5F4D-42D6-8084-652E72359455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4222344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DF6-5626-472D-8067-0B5495BB1B2F}" type="datetimeFigureOut">
              <a:rPr lang="en-MT" smtClean="0"/>
              <a:t>01/03/2026</a:t>
            </a:fld>
            <a:endParaRPr lang="en-M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D8D61-5F4D-42D6-8084-652E72359455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226058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DF6-5626-472D-8067-0B5495BB1B2F}" type="datetimeFigureOut">
              <a:rPr lang="en-MT" smtClean="0"/>
              <a:t>01/03/2026</a:t>
            </a:fld>
            <a:endParaRPr lang="en-M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D8D61-5F4D-42D6-8084-652E72359455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345118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DF6-5626-472D-8067-0B5495BB1B2F}" type="datetimeFigureOut">
              <a:rPr lang="en-MT" smtClean="0"/>
              <a:t>01/03/2026</a:t>
            </a:fld>
            <a:endParaRPr lang="en-M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D8D61-5F4D-42D6-8084-652E72359455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712542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DF6-5626-472D-8067-0B5495BB1B2F}" type="datetimeFigureOut">
              <a:rPr lang="en-MT" smtClean="0"/>
              <a:t>01/03/2026</a:t>
            </a:fld>
            <a:endParaRPr lang="en-M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D8D61-5F4D-42D6-8084-652E72359455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207717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DF6-5626-472D-8067-0B5495BB1B2F}" type="datetimeFigureOut">
              <a:rPr lang="en-MT" smtClean="0"/>
              <a:t>01/03/2026</a:t>
            </a:fld>
            <a:endParaRPr lang="en-M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D8D61-5F4D-42D6-8084-652E72359455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328907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DF6-5626-472D-8067-0B5495BB1B2F}" type="datetimeFigureOut">
              <a:rPr lang="en-MT" smtClean="0"/>
              <a:t>01/03/2026</a:t>
            </a:fld>
            <a:endParaRPr lang="en-M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D8D61-5F4D-42D6-8084-652E72359455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282473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DF6-5626-472D-8067-0B5495BB1B2F}" type="datetimeFigureOut">
              <a:rPr lang="en-MT" smtClean="0"/>
              <a:t>01/03/2026</a:t>
            </a:fld>
            <a:endParaRPr lang="en-M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D8D61-5F4D-42D6-8084-652E72359455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92259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DF6-5626-472D-8067-0B5495BB1B2F}" type="datetimeFigureOut">
              <a:rPr lang="en-MT" smtClean="0"/>
              <a:t>01/03/2026</a:t>
            </a:fld>
            <a:endParaRPr lang="en-M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D8D61-5F4D-42D6-8084-652E72359455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162933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35DF6-5626-472D-8067-0B5495BB1B2F}" type="datetimeFigureOut">
              <a:rPr lang="en-MT" smtClean="0"/>
              <a:t>01/03/2026</a:t>
            </a:fld>
            <a:endParaRPr lang="en-M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D8D61-5F4D-42D6-8084-652E72359455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076334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02C35DF6-5626-472D-8067-0B5495BB1B2F}" type="datetimeFigureOut">
              <a:rPr lang="en-MT" smtClean="0"/>
              <a:t>01/03/2026</a:t>
            </a:fld>
            <a:endParaRPr lang="en-M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M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81D8D61-5F4D-42D6-8084-652E72359455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4932522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itp-conference.org/2020/slides/PV.pdf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5AEB9-1503-C5A4-EFB9-73F213FDEB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4825"/>
            <a:ext cx="9144000" cy="759833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  <a:endParaRPr lang="en-M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9F6FE-333B-EC93-C129-6B17962BBE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1098" y="1308193"/>
            <a:ext cx="10309804" cy="622890"/>
          </a:xfrm>
        </p:spPr>
        <p:txBody>
          <a:bodyPr>
            <a:normAutofit fontScale="92500"/>
          </a:bodyPr>
          <a:lstStyle/>
          <a:p>
            <a:r>
              <a:rPr lang="en-US" b="1" i="1" u="sng" dirty="0"/>
              <a:t>Adaptive clause deletion via early search dynamics prediction in CDCL solvers</a:t>
            </a:r>
            <a:endParaRPr lang="en-MT" b="1" i="1" u="sng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C23D360-C768-D3EB-02F7-17980346FF6A}"/>
              </a:ext>
            </a:extLst>
          </p:cNvPr>
          <p:cNvSpPr txBox="1">
            <a:spLocks/>
          </p:cNvSpPr>
          <p:nvPr/>
        </p:nvSpPr>
        <p:spPr>
          <a:xfrm>
            <a:off x="0" y="2086761"/>
            <a:ext cx="8885921" cy="6228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Modern CDCL SAT solvers utilize only ONE clause deletion policy, hence main hypothesis is:</a:t>
            </a:r>
            <a:endParaRPr lang="en-MT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BBF4AE7-9BCF-A29C-E1C0-8D3D6D79A688}"/>
              </a:ext>
            </a:extLst>
          </p:cNvPr>
          <p:cNvSpPr txBox="1">
            <a:spLocks/>
          </p:cNvSpPr>
          <p:nvPr/>
        </p:nvSpPr>
        <p:spPr>
          <a:xfrm>
            <a:off x="873242" y="3009066"/>
            <a:ext cx="10309804" cy="6228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b="1" dirty="0"/>
              <a:t>Adapting clause deletion policies based on early search dynamics leads to better solver performance than a uniform clause deletion strategy.</a:t>
            </a:r>
            <a:endParaRPr lang="en-MT" b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932027C-7C81-C575-750F-0E75E279C2F3}"/>
              </a:ext>
            </a:extLst>
          </p:cNvPr>
          <p:cNvSpPr txBox="1">
            <a:spLocks/>
          </p:cNvSpPr>
          <p:nvPr/>
        </p:nvSpPr>
        <p:spPr>
          <a:xfrm>
            <a:off x="120969" y="4071416"/>
            <a:ext cx="10309804" cy="2377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lang="en-GB" sz="1600" b="1" i="1" u="sng" dirty="0"/>
              <a:t>RQ1:</a:t>
            </a:r>
            <a:r>
              <a:rPr lang="en-GB" sz="1600" dirty="0"/>
              <a:t> To what extent a</a:t>
            </a:r>
            <a:r>
              <a:rPr lang="en-US" sz="1600" dirty="0"/>
              <a:t>re SAT and UNSAT instances distinguishable by early CDCL search dynamics? - Establish that early probing gives meaningful signals. – Plot features(x), SAT/UNSAT(Y) (</a:t>
            </a:r>
            <a:r>
              <a:rPr lang="en-US" sz="1600" dirty="0" err="1"/>
              <a:t>historgram</a:t>
            </a:r>
            <a:r>
              <a:rPr lang="en-US" sz="1600" dirty="0"/>
              <a:t>, boxplots </a:t>
            </a:r>
            <a:r>
              <a:rPr lang="en-US" sz="1600" dirty="0" err="1"/>
              <a:t>etc</a:t>
            </a:r>
            <a:r>
              <a:rPr lang="en-US" sz="1600" dirty="0"/>
              <a:t>, </a:t>
            </a:r>
            <a:r>
              <a:rPr lang="en-US" sz="1600" dirty="0" err="1"/>
              <a:t>optiontally</a:t>
            </a:r>
            <a:r>
              <a:rPr lang="en-US" sz="1600" dirty="0"/>
              <a:t> PCA/UMAP). Also consider t-test/ Mann-Whiten  U test for quantitative proof over just visual </a:t>
            </a:r>
          </a:p>
          <a:p>
            <a:pPr lvl="0" algn="l"/>
            <a:endParaRPr lang="en-US" sz="1600" b="1" i="1" u="sng" dirty="0"/>
          </a:p>
          <a:p>
            <a:pPr lvl="0" algn="l"/>
            <a:r>
              <a:rPr lang="en-GB" sz="1600" b="1" i="1" u="sng" dirty="0"/>
              <a:t>RQ2:</a:t>
            </a:r>
            <a:r>
              <a:rPr lang="en-GB" sz="1600" dirty="0"/>
              <a:t> </a:t>
            </a:r>
            <a:r>
              <a:rPr lang="en-US" sz="1600" dirty="0"/>
              <a:t>Can early search dynamics predict which deletion policy (AGG vs CONS) will perform better for a given instance? - Test feasibility of ML-based policy selection. &gt; </a:t>
            </a:r>
            <a:r>
              <a:rPr lang="en-GB" sz="1600" dirty="0"/>
              <a:t>Evaluate predictive accuracy post-model training.</a:t>
            </a:r>
            <a:endParaRPr lang="en-GB" sz="1600" b="1" i="1" u="sng" dirty="0"/>
          </a:p>
          <a:p>
            <a:pPr lvl="0" algn="l"/>
            <a:endParaRPr lang="en-MT" sz="1600" b="1" i="1" u="sng" dirty="0"/>
          </a:p>
        </p:txBody>
      </p:sp>
    </p:spTree>
    <p:extLst>
      <p:ext uri="{BB962C8B-B14F-4D97-AF65-F5344CB8AC3E}">
        <p14:creationId xmlns:p14="http://schemas.microsoft.com/office/powerpoint/2010/main" val="734299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C8FF3-067F-95A7-E0B7-045B5F1FF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9686" y="144320"/>
            <a:ext cx="7702685" cy="1113479"/>
          </a:xfrm>
        </p:spPr>
        <p:txBody>
          <a:bodyPr/>
          <a:lstStyle/>
          <a:p>
            <a:r>
              <a:rPr lang="en-US" dirty="0"/>
              <a:t>Methodology / Proposed Solution</a:t>
            </a:r>
            <a:endParaRPr lang="en-MT" dirty="0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7A2A5252-CD33-9BF1-84BC-4E0E2C0AF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75823" y="1697678"/>
            <a:ext cx="4278512" cy="43513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1194F5-8D8F-6A43-1EC5-3B60797FEE32}"/>
              </a:ext>
            </a:extLst>
          </p:cNvPr>
          <p:cNvSpPr txBox="1"/>
          <p:nvPr/>
        </p:nvSpPr>
        <p:spPr>
          <a:xfrm>
            <a:off x="0" y="995152"/>
            <a:ext cx="754056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u="sng" dirty="0"/>
              <a:t>Offline Phase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Run the solver with Agg deletion, Cons deletion and gather the target labels (Con/Agg) for best performing policy – Y Variable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Run the solver with NO policy(baseline) for the first 2K Conflicts, gather the search dynamics from this solver to act as features.  - X Variables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Train model (Cross-validate, evaluate,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b="1" i="1" u="sng" dirty="0"/>
              <a:t>Online Phase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CDCL Starts solving new instance with No Policy(baseline) for first 2k conflicts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Extract early features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Feed early features into trained model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Model predicts AGG or CONS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Depending on the prediction, set AGG or CONS deletion strategy (solver switches to corresponding predefined configuration)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Solve until termination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r>
              <a:rPr lang="en-US" i="1" dirty="0"/>
              <a:t>This will all be done on </a:t>
            </a:r>
            <a:r>
              <a:rPr lang="en-US" i="1" dirty="0" err="1"/>
              <a:t>MiniSAT</a:t>
            </a:r>
            <a:r>
              <a:rPr lang="en-US" i="1" dirty="0"/>
              <a:t> 2.2 as the base CDCL Solver since it is the classic CDCL.</a:t>
            </a:r>
            <a:endParaRPr lang="en-MT" dirty="0"/>
          </a:p>
        </p:txBody>
      </p:sp>
    </p:spTree>
    <p:extLst>
      <p:ext uri="{BB962C8B-B14F-4D97-AF65-F5344CB8AC3E}">
        <p14:creationId xmlns:p14="http://schemas.microsoft.com/office/powerpoint/2010/main" val="1565396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1314C4-FD09-76FB-7E1B-DD112E065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381" y="279940"/>
            <a:ext cx="3325238" cy="802194"/>
          </a:xfrm>
        </p:spPr>
        <p:txBody>
          <a:bodyPr/>
          <a:lstStyle/>
          <a:p>
            <a:r>
              <a:rPr lang="en-US" dirty="0"/>
              <a:t>Coding Steps</a:t>
            </a:r>
            <a:endParaRPr lang="en-MT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1ECAC2F-396A-A1E2-89F1-0F54465B3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093" y="1253331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800" dirty="0"/>
              <a:t>Inside </a:t>
            </a:r>
            <a:r>
              <a:rPr lang="en-US" sz="1800" dirty="0" err="1"/>
              <a:t>MiniSAT</a:t>
            </a:r>
            <a:r>
              <a:rPr lang="en-US" sz="1800" dirty="0"/>
              <a:t> 2.2, create variables for 3 deletion modes (Base ,</a:t>
            </a:r>
            <a:r>
              <a:rPr lang="en-US" sz="1800" dirty="0" err="1"/>
              <a:t>Agg,Cons</a:t>
            </a:r>
            <a:r>
              <a:rPr lang="en-US" sz="1800" dirty="0"/>
              <a:t>) (C++)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Modify </a:t>
            </a:r>
            <a:r>
              <a:rPr lang="en-US" sz="1800" dirty="0" err="1"/>
              <a:t>reducedDB</a:t>
            </a:r>
            <a:r>
              <a:rPr lang="en-US" sz="1800" dirty="0"/>
              <a:t> function for the 3 deletions modes (C++)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Data generation for recording the features and labels &gt; Store in vector files (C++)</a:t>
            </a:r>
          </a:p>
          <a:p>
            <a:pPr marL="514350" indent="-514350">
              <a:buFont typeface="+mj-lt"/>
              <a:buAutoNum type="arabicPeriod"/>
            </a:pPr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Load features + labels &gt; Train model (cross-validate </a:t>
            </a:r>
            <a:r>
              <a:rPr lang="en-US" sz="1800" dirty="0" err="1"/>
              <a:t>etc</a:t>
            </a:r>
            <a:r>
              <a:rPr lang="en-US" sz="1800" dirty="0"/>
              <a:t> &amp; select best model) (Python)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Extract learned parameters (Python)</a:t>
            </a:r>
          </a:p>
          <a:p>
            <a:pPr marL="514350" indent="-514350">
              <a:buFont typeface="+mj-lt"/>
              <a:buAutoNum type="arabicPeriod"/>
            </a:pPr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Embed the model back into the solver (C++)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/>
              <a:t>Results.</a:t>
            </a:r>
          </a:p>
          <a:p>
            <a:pPr marL="514350" indent="-514350">
              <a:buFont typeface="+mj-lt"/>
              <a:buAutoNum type="arabicPeriod"/>
            </a:pPr>
            <a:endParaRPr lang="en-MT" sz="1800" dirty="0"/>
          </a:p>
        </p:txBody>
      </p:sp>
    </p:spTree>
    <p:extLst>
      <p:ext uri="{BB962C8B-B14F-4D97-AF65-F5344CB8AC3E}">
        <p14:creationId xmlns:p14="http://schemas.microsoft.com/office/powerpoint/2010/main" val="4014686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EDB1CD0-7476-38A8-21FB-02F6FAAC5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Features Examples (Search Dynamics)</a:t>
            </a:r>
            <a:endParaRPr lang="en-MT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E02D83D-23CC-A6DF-A7AE-2E7C9B1D7D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043" y="1870513"/>
            <a:ext cx="275267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T" altLang="en-M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</a:t>
            </a:r>
            <a:r>
              <a:rPr kumimoji="0" lang="en-US" altLang="en-M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en-MT" altLang="en-M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database growth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T" altLang="en-M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Avg</a:t>
            </a:r>
            <a:r>
              <a:rPr kumimoji="0" lang="en-MT" altLang="en-M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LBD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T" altLang="en-M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Conflict clause size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T" altLang="en-M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Propagation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T" altLang="en-M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Restart frequency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MT" altLang="en-M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2569099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92CB2-960F-56BF-F3A5-F7B42411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766"/>
            <a:ext cx="10515600" cy="44227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Literature</a:t>
            </a:r>
            <a:endParaRPr lang="en-M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82A82-5A66-7829-BC2F-03EBDB2B8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3523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Theoretical background (P vs NP – Very short)</a:t>
            </a:r>
          </a:p>
          <a:p>
            <a:r>
              <a:rPr lang="en-US" sz="2400" dirty="0"/>
              <a:t>DPLL Algorithm</a:t>
            </a:r>
          </a:p>
          <a:p>
            <a:r>
              <a:rPr lang="en-US" sz="2400" dirty="0"/>
              <a:t>CDCL Algorithm</a:t>
            </a:r>
          </a:p>
          <a:p>
            <a:r>
              <a:rPr lang="en-US" sz="2400" dirty="0"/>
              <a:t>ML Utilization in SAT solvers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 err="1"/>
              <a:t>NeuroBack</a:t>
            </a:r>
            <a:r>
              <a:rPr lang="en-US" sz="1400" dirty="0"/>
              <a:t> (Selecting which variable to use and state of that variable)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/>
              <a:t>ML-Based Restart Policy for SAT Solvers (When to discard a search and restart – includes early search dynamics for restart policy within the online model itself)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/>
              <a:t>Predicting Learnt Clauses Quality in Modern SAT (Which clause to retain or delete – not </a:t>
            </a:r>
            <a:r>
              <a:rPr lang="en-US" sz="1400" dirty="0" err="1"/>
              <a:t>technicaly</a:t>
            </a:r>
            <a:r>
              <a:rPr lang="en-US" sz="1400" dirty="0"/>
              <a:t> ML hence kept minimal 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400" dirty="0" err="1"/>
              <a:t>NeuroSelect</a:t>
            </a:r>
            <a:r>
              <a:rPr lang="en-US" sz="1400" dirty="0"/>
              <a:t> (Which clauses to retain or delete – includes heavy clause deletion policy)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en-US" sz="140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MT" sz="1400" dirty="0">
                <a:hlinkClick r:id="rId2"/>
              </a:rPr>
              <a:t>https://aitp-conference.org/2020/slides/PV.pdf</a:t>
            </a:r>
            <a:r>
              <a:rPr lang="en-US" sz="1400" dirty="0"/>
              <a:t> - sent via email, will be my base paper I think but have yet to do literature on it.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700" i="1" dirty="0"/>
              <a:t>picks a deletion threshold (e.g. LBD &lt;= 3)  and learns via RL where a neural network continuously (hence an online model) decides how aggressive deletion should be. Scope: Given the current state of the solver, what deletion threshold should I use right now? - Updating in real time (Approximation and </a:t>
            </a:r>
            <a:r>
              <a:rPr lang="en-US" sz="1700" i="1" dirty="0" err="1"/>
              <a:t>determinstic</a:t>
            </a:r>
            <a:r>
              <a:rPr lang="en-US" sz="1700" i="1" dirty="0"/>
              <a:t>)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MT" sz="1100" i="1" dirty="0"/>
          </a:p>
        </p:txBody>
      </p:sp>
    </p:spTree>
    <p:extLst>
      <p:ext uri="{BB962C8B-B14F-4D97-AF65-F5344CB8AC3E}">
        <p14:creationId xmlns:p14="http://schemas.microsoft.com/office/powerpoint/2010/main" val="1349139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D1A85-09D3-A6C4-E0C9-FA51467D0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Gantt Chart</a:t>
            </a:r>
            <a:endParaRPr lang="en-MT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6530B4-D17F-DB52-1DAC-2269CB75E0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640" y="2727646"/>
            <a:ext cx="11606719" cy="140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927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D594D-3B39-77D2-58F2-79D6CC30C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Thesis Schedule</a:t>
            </a:r>
            <a:endParaRPr lang="en-M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CB121-A319-6E69-76EE-79518110A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27 March &gt; Progress Report</a:t>
            </a:r>
          </a:p>
          <a:p>
            <a:r>
              <a:rPr lang="en-US" sz="2000" dirty="0"/>
              <a:t>17 April &gt; Progress Report Feedback</a:t>
            </a:r>
          </a:p>
          <a:p>
            <a:r>
              <a:rPr lang="en-US" sz="2000" dirty="0"/>
              <a:t>26 June &gt; Deadline for change in thesis title</a:t>
            </a:r>
          </a:p>
          <a:p>
            <a:r>
              <a:rPr lang="en-US" sz="2000" dirty="0"/>
              <a:t>28 August &gt; Dissertation extension request deadline</a:t>
            </a:r>
          </a:p>
          <a:p>
            <a:r>
              <a:rPr lang="en-US" sz="2000" dirty="0"/>
              <a:t>1 September &gt; Students should have submitted first drafts of thesis for correction</a:t>
            </a:r>
          </a:p>
          <a:p>
            <a:r>
              <a:rPr lang="en-US" sz="2000" dirty="0"/>
              <a:t>15 September &gt; Deadline by which supervisor should give feedback on the draft </a:t>
            </a:r>
          </a:p>
          <a:p>
            <a:r>
              <a:rPr lang="en-US" sz="2000" dirty="0"/>
              <a:t>30 September &gt; Dissertation deadline (copy to be sent to Elton Mamo)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1999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919191"/>
      </a:dk1>
      <a:lt1>
        <a:srgbClr val="000000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1129</TotalTime>
  <Words>668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Introduction</vt:lpstr>
      <vt:lpstr>Methodology / Proposed Solution</vt:lpstr>
      <vt:lpstr>Coding Steps</vt:lpstr>
      <vt:lpstr>Features Examples (Search Dynamics)</vt:lpstr>
      <vt:lpstr>Literature</vt:lpstr>
      <vt:lpstr>Gantt Chart</vt:lpstr>
      <vt:lpstr>Thesis 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Alfino</dc:creator>
  <cp:lastModifiedBy>Luca Alfino</cp:lastModifiedBy>
  <cp:revision>11</cp:revision>
  <dcterms:created xsi:type="dcterms:W3CDTF">2026-02-21T21:21:30Z</dcterms:created>
  <dcterms:modified xsi:type="dcterms:W3CDTF">2026-03-01T11:29:56Z</dcterms:modified>
</cp:coreProperties>
</file>